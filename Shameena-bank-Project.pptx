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73" r:id="rId3"/>
    <p:sldId id="256" r:id="rId4"/>
    <p:sldId id="257" r:id="rId5"/>
    <p:sldId id="259" r:id="rId6"/>
    <p:sldId id="260" r:id="rId7"/>
    <p:sldId id="261" r:id="rId8"/>
    <p:sldId id="263" r:id="rId9"/>
    <p:sldId id="264" r:id="rId10"/>
    <p:sldId id="265" r:id="rId11"/>
    <p:sldId id="267" r:id="rId12"/>
    <p:sldId id="268" r:id="rId13"/>
    <p:sldId id="277" r:id="rId14"/>
    <p:sldId id="270" r:id="rId15"/>
    <p:sldId id="278" r:id="rId16"/>
    <p:sldId id="27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6020" y="1139794"/>
            <a:ext cx="5611091" cy="685852"/>
          </a:xfrm>
          <a:prstGeom prst="rect">
            <a:avLst/>
          </a:prstGeom>
        </p:spPr>
        <p:txBody>
          <a:bodyPr vert="horz" wrap="square" lIns="0" tIns="8659" rIns="0" bIns="0" rtlCol="0" anchor="ctr">
            <a:spAutoFit/>
          </a:bodyPr>
          <a:lstStyle/>
          <a:p>
            <a:pPr marL="8659">
              <a:spcBef>
                <a:spcPts val="68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Mazenet</a:t>
            </a:r>
            <a:r>
              <a:rPr spc="-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99435" y="1884998"/>
            <a:ext cx="2818967" cy="302105"/>
          </a:xfrm>
          <a:prstGeom prst="rect">
            <a:avLst/>
          </a:prstGeom>
        </p:spPr>
        <p:txBody>
          <a:bodyPr vert="horz" wrap="square" lIns="0" tIns="8226" rIns="0" bIns="0" rtlCol="0">
            <a:spAutoFit/>
          </a:bodyPr>
          <a:lstStyle/>
          <a:p>
            <a:pPr marL="8659">
              <a:spcBef>
                <a:spcPts val="65"/>
              </a:spcBef>
            </a:pPr>
            <a:r>
              <a:rPr sz="1909" b="1" dirty="0">
                <a:latin typeface="Times New Roman"/>
                <a:cs typeface="Times New Roman"/>
              </a:rPr>
              <a:t>Data</a:t>
            </a:r>
            <a:r>
              <a:rPr sz="1909" b="1" spc="-44" dirty="0">
                <a:latin typeface="Times New Roman"/>
                <a:cs typeface="Times New Roman"/>
              </a:rPr>
              <a:t> </a:t>
            </a:r>
            <a:r>
              <a:rPr sz="1909" b="1" dirty="0">
                <a:latin typeface="Times New Roman"/>
                <a:cs typeface="Times New Roman"/>
              </a:rPr>
              <a:t>Engineering</a:t>
            </a:r>
            <a:r>
              <a:rPr sz="1909" b="1" spc="-48" dirty="0">
                <a:latin typeface="Times New Roman"/>
                <a:cs typeface="Times New Roman"/>
              </a:rPr>
              <a:t> </a:t>
            </a:r>
            <a:r>
              <a:rPr sz="1909" b="1" spc="-7" dirty="0">
                <a:latin typeface="Times New Roman"/>
                <a:cs typeface="Times New Roman"/>
              </a:rPr>
              <a:t>Training</a:t>
            </a:r>
            <a:endParaRPr sz="1909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5172" y="3102229"/>
            <a:ext cx="4167492" cy="433540"/>
          </a:xfrm>
          <a:prstGeom prst="rect">
            <a:avLst/>
          </a:prstGeom>
        </p:spPr>
        <p:txBody>
          <a:bodyPr vert="horz" wrap="square" lIns="0" tIns="22947" rIns="0" bIns="0" rtlCol="0">
            <a:spAutoFit/>
          </a:bodyPr>
          <a:lstStyle/>
          <a:p>
            <a:pPr marL="983214" marR="3464" indent="-974988">
              <a:lnSpc>
                <a:spcPts val="1568"/>
              </a:lnSpc>
              <a:spcBef>
                <a:spcPts val="181"/>
              </a:spcBef>
            </a:pP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PROJECT:</a:t>
            </a:r>
            <a:r>
              <a:rPr sz="1600" b="1" spc="-4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BANKING</a:t>
            </a:r>
            <a:r>
              <a:rPr sz="1600" b="1" spc="-5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1600" b="1" spc="-4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spc="-7" dirty="0">
                <a:solidFill>
                  <a:srgbClr val="FF0000"/>
                </a:solidFill>
                <a:latin typeface="Times New Roman"/>
                <a:cs typeface="Times New Roman"/>
              </a:rPr>
              <a:t>PLATFORM DEVELOPMENT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4371" y="4310345"/>
            <a:ext cx="2945899" cy="1430980"/>
          </a:xfrm>
          <a:prstGeom prst="rect">
            <a:avLst/>
          </a:prstGeom>
        </p:spPr>
        <p:txBody>
          <a:bodyPr vert="horz" wrap="square" lIns="0" tIns="9092" rIns="0" bIns="0" rtlCol="0">
            <a:spAutoFit/>
          </a:bodyPr>
          <a:lstStyle/>
          <a:p>
            <a:pPr marL="8659">
              <a:spcBef>
                <a:spcPts val="72"/>
              </a:spcBef>
            </a:pPr>
            <a:r>
              <a:rPr sz="1636" b="1" dirty="0">
                <a:latin typeface="Times New Roman"/>
                <a:cs typeface="Times New Roman"/>
              </a:rPr>
              <a:t>Submitted</a:t>
            </a:r>
            <a:r>
              <a:rPr sz="1636" b="1" spc="-7" dirty="0">
                <a:latin typeface="Times New Roman"/>
                <a:cs typeface="Times New Roman"/>
              </a:rPr>
              <a:t> </a:t>
            </a:r>
            <a:r>
              <a:rPr sz="1636" b="1" dirty="0">
                <a:latin typeface="Times New Roman"/>
                <a:cs typeface="Times New Roman"/>
              </a:rPr>
              <a:t>by:</a:t>
            </a:r>
            <a:r>
              <a:rPr sz="1636" b="1" spc="-7" dirty="0">
                <a:latin typeface="Times New Roman"/>
                <a:cs typeface="Times New Roman"/>
              </a:rPr>
              <a:t> Shameena</a:t>
            </a:r>
            <a:endParaRPr sz="1636" dirty="0">
              <a:latin typeface="Times New Roman"/>
              <a:cs typeface="Times New Roman"/>
            </a:endParaRPr>
          </a:p>
          <a:p>
            <a:pPr marL="8659">
              <a:spcBef>
                <a:spcPts val="842"/>
              </a:spcBef>
            </a:pPr>
            <a:r>
              <a:rPr sz="1636" b="1" dirty="0">
                <a:latin typeface="Times New Roman"/>
                <a:cs typeface="Times New Roman"/>
              </a:rPr>
              <a:t>Batch:</a:t>
            </a:r>
            <a:r>
              <a:rPr sz="1636" b="1" spc="-24" dirty="0">
                <a:latin typeface="Times New Roman"/>
                <a:cs typeface="Times New Roman"/>
              </a:rPr>
              <a:t> </a:t>
            </a:r>
            <a:r>
              <a:rPr sz="1636" b="1" spc="-7" dirty="0">
                <a:latin typeface="Times New Roman"/>
                <a:cs typeface="Times New Roman"/>
              </a:rPr>
              <a:t>DE-</a:t>
            </a:r>
            <a:r>
              <a:rPr sz="1636" b="1" dirty="0">
                <a:latin typeface="Times New Roman"/>
                <a:cs typeface="Times New Roman"/>
              </a:rPr>
              <a:t>2025</a:t>
            </a:r>
            <a:r>
              <a:rPr sz="1636" b="1" spc="-7" dirty="0">
                <a:latin typeface="Times New Roman"/>
                <a:cs typeface="Times New Roman"/>
              </a:rPr>
              <a:t> </a:t>
            </a:r>
            <a:r>
              <a:rPr sz="1636" b="1" dirty="0">
                <a:latin typeface="Times New Roman"/>
                <a:cs typeface="Times New Roman"/>
              </a:rPr>
              <a:t>Batch</a:t>
            </a:r>
            <a:r>
              <a:rPr sz="1636" b="1" spc="-10" dirty="0">
                <a:latin typeface="Times New Roman"/>
                <a:cs typeface="Times New Roman"/>
              </a:rPr>
              <a:t> </a:t>
            </a:r>
            <a:r>
              <a:rPr sz="1636" b="1" spc="-34" dirty="0">
                <a:latin typeface="Times New Roman"/>
                <a:cs typeface="Times New Roman"/>
              </a:rPr>
              <a:t>1</a:t>
            </a:r>
            <a:endParaRPr sz="1636" dirty="0">
              <a:latin typeface="Times New Roman"/>
              <a:cs typeface="Times New Roman"/>
            </a:endParaRPr>
          </a:p>
          <a:p>
            <a:pPr marL="8659" marR="30306">
              <a:lnSpc>
                <a:spcPct val="173600"/>
              </a:lnSpc>
              <a:spcBef>
                <a:spcPts val="7"/>
              </a:spcBef>
            </a:pPr>
            <a:r>
              <a:rPr sz="1636" b="1" dirty="0">
                <a:latin typeface="Times New Roman"/>
                <a:cs typeface="Times New Roman"/>
              </a:rPr>
              <a:t>Trainer:</a:t>
            </a:r>
            <a:r>
              <a:rPr sz="1636" b="1" spc="-31" dirty="0">
                <a:latin typeface="Times New Roman"/>
                <a:cs typeface="Times New Roman"/>
              </a:rPr>
              <a:t> </a:t>
            </a:r>
            <a:r>
              <a:rPr sz="1636" b="1" dirty="0">
                <a:latin typeface="Times New Roman"/>
                <a:cs typeface="Times New Roman"/>
              </a:rPr>
              <a:t>Aaryan</a:t>
            </a:r>
            <a:r>
              <a:rPr sz="1636" b="1" spc="-17" dirty="0">
                <a:latin typeface="Times New Roman"/>
                <a:cs typeface="Times New Roman"/>
              </a:rPr>
              <a:t> </a:t>
            </a:r>
            <a:r>
              <a:rPr sz="1636" b="1" spc="-7" dirty="0">
                <a:latin typeface="Times New Roman"/>
                <a:cs typeface="Times New Roman"/>
              </a:rPr>
              <a:t>Kumar </a:t>
            </a:r>
            <a:endParaRPr lang="en-IN" sz="1636" b="1" spc="-7" dirty="0">
              <a:latin typeface="Times New Roman"/>
              <a:cs typeface="Times New Roman"/>
            </a:endParaRPr>
          </a:p>
          <a:p>
            <a:pPr marL="8659" marR="30306">
              <a:lnSpc>
                <a:spcPct val="173600"/>
              </a:lnSpc>
              <a:spcBef>
                <a:spcPts val="7"/>
              </a:spcBef>
            </a:pPr>
            <a:r>
              <a:rPr sz="1636" b="1" dirty="0">
                <a:latin typeface="Times New Roman"/>
                <a:cs typeface="Times New Roman"/>
              </a:rPr>
              <a:t>Date:</a:t>
            </a:r>
            <a:r>
              <a:rPr sz="1636" b="1" spc="20" dirty="0">
                <a:latin typeface="Times New Roman"/>
                <a:cs typeface="Times New Roman"/>
              </a:rPr>
              <a:t> </a:t>
            </a:r>
            <a:r>
              <a:rPr sz="1636" b="1" spc="-7" dirty="0">
                <a:latin typeface="Times New Roman"/>
                <a:cs typeface="Times New Roman"/>
              </a:rPr>
              <a:t>10-12-</a:t>
            </a:r>
            <a:r>
              <a:rPr sz="1636" b="1" spc="-14" dirty="0">
                <a:latin typeface="Times New Roman"/>
                <a:cs typeface="Times New Roman"/>
              </a:rPr>
              <a:t>2025</a:t>
            </a:r>
            <a:endParaRPr sz="1636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0320" y="571522"/>
            <a:ext cx="2818966" cy="4923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ADD49-5410-7D32-F902-5DD23E24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AB5A7-A513-414C-D137-2B7710875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FF0000"/>
                </a:solidFill>
              </a:rPr>
              <a:t> INDEX - DAY 1 TO DAY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B98E6-B9A5-432A-87AC-A8E60B51F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Day-wise Overview: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• Day 1 – Data Ingestion &amp; Storage Setup</a:t>
            </a:r>
          </a:p>
          <a:p>
            <a:pPr marL="0" indent="0">
              <a:buNone/>
              <a:defRPr sz="2000"/>
            </a:pPr>
            <a:r>
              <a:rPr dirty="0"/>
              <a:t>• Day 2 – Automated Processing &amp; Queue Handling</a:t>
            </a:r>
          </a:p>
          <a:p>
            <a:pPr marL="0" indent="0">
              <a:buNone/>
              <a:defRPr sz="2000"/>
            </a:pPr>
            <a:r>
              <a:rPr dirty="0"/>
              <a:t>• Day 3 – Database Integration (Azure SQL / Cosmos DB)</a:t>
            </a:r>
          </a:p>
          <a:p>
            <a:pPr marL="0" indent="0">
              <a:buNone/>
              <a:defRPr sz="2000"/>
            </a:pPr>
            <a:r>
              <a:rPr dirty="0"/>
              <a:t>• Day 4 – Fraud Detection &amp; Real-Time Alerts</a:t>
            </a:r>
          </a:p>
          <a:p>
            <a:pPr marL="0" indent="0">
              <a:buNone/>
              <a:defRPr sz="2000"/>
            </a:pPr>
            <a:r>
              <a:rPr dirty="0"/>
              <a:t>• Day 5 – Analytics &amp; Silver Layer Dataset</a:t>
            </a:r>
          </a:p>
        </p:txBody>
      </p:sp>
    </p:spTree>
    <p:extLst>
      <p:ext uri="{BB962C8B-B14F-4D97-AF65-F5344CB8AC3E}">
        <p14:creationId xmlns:p14="http://schemas.microsoft.com/office/powerpoint/2010/main" val="152670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F0000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Azure Banking Project – Day 1 to Day 5</a:t>
            </a:r>
          </a:p>
          <a:p>
            <a:pPr>
              <a:defRPr sz="2000"/>
            </a:pPr>
            <a:r>
              <a:t>Includes objectives, services, implementation, challenges &amp; improvements.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F0000"/>
                </a:solidFill>
              </a:rPr>
              <a:t>Day 1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Goal: Set up ingestion foundation for banking raw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E55586-09C1-C8BB-2F5D-FFBE5BB7C8A8}"/>
              </a:ext>
            </a:extLst>
          </p:cNvPr>
          <p:cNvSpPr txBox="1"/>
          <p:nvPr/>
        </p:nvSpPr>
        <p:spPr>
          <a:xfrm>
            <a:off x="457200" y="3535480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2000"/>
            </a:pPr>
            <a:r>
              <a:rPr lang="en-US" dirty="0"/>
              <a:t>Azure Storage Account</a:t>
            </a:r>
          </a:p>
          <a:p>
            <a:pPr marL="0" indent="0">
              <a:buNone/>
              <a:defRPr sz="2000"/>
            </a:pPr>
            <a:r>
              <a:rPr lang="en-US" dirty="0"/>
              <a:t>• Blob Containers</a:t>
            </a:r>
          </a:p>
          <a:p>
            <a:pPr marL="0" indent="0">
              <a:buNone/>
              <a:defRPr sz="2000"/>
            </a:pPr>
            <a:r>
              <a:rPr lang="en-US" dirty="0"/>
              <a:t>• Event Grid</a:t>
            </a:r>
          </a:p>
          <a:p>
            <a:pPr marL="0" indent="0">
              <a:buNone/>
              <a:defRPr sz="2000"/>
            </a:pPr>
            <a:r>
              <a:rPr lang="en-US" dirty="0"/>
              <a:t>• Azure Function App (HTTP)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5B8938-4309-A29A-B568-98632A23948A}"/>
              </a:ext>
            </a:extLst>
          </p:cNvPr>
          <p:cNvSpPr txBox="1"/>
          <p:nvPr/>
        </p:nvSpPr>
        <p:spPr>
          <a:xfrm>
            <a:off x="457200" y="2945328"/>
            <a:ext cx="297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Services Used: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F0000"/>
                </a:solidFill>
              </a:rPr>
              <a:t>Day 1 –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Implementation Steps:</a:t>
            </a:r>
          </a:p>
          <a:p>
            <a:pPr marL="0" indent="0">
              <a:buNone/>
              <a:defRPr sz="2000"/>
            </a:pPr>
            <a:r>
              <a:rPr dirty="0"/>
              <a:t>1. Created Storage Account &amp; Containers</a:t>
            </a:r>
          </a:p>
          <a:p>
            <a:pPr marL="0" indent="0">
              <a:buNone/>
              <a:defRPr sz="2000"/>
            </a:pPr>
            <a:r>
              <a:rPr dirty="0"/>
              <a:t>2. Created</a:t>
            </a:r>
            <a:r>
              <a:rPr lang="en-IN" dirty="0"/>
              <a:t> a service queue</a:t>
            </a:r>
            <a:endParaRPr dirty="0"/>
          </a:p>
          <a:p>
            <a:pPr marL="0" indent="0">
              <a:buNone/>
              <a:defRPr sz="2000"/>
            </a:pPr>
            <a:r>
              <a:rPr dirty="0"/>
              <a:t>3. Configured Event Grid trigger</a:t>
            </a:r>
          </a:p>
          <a:p>
            <a:pPr marL="0" indent="0">
              <a:buNone/>
              <a:defRPr sz="2000"/>
            </a:pPr>
            <a:endParaRPr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D0385A11-D37B-8080-99CB-D555CEB640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3297237"/>
            <a:ext cx="3443287" cy="3011488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852428A0-F733-7594-5EDF-209F956F266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1968" y="3297237"/>
            <a:ext cx="4250532" cy="28289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u="sng" dirty="0">
                <a:solidFill>
                  <a:srgbClr val="FF0000"/>
                </a:solidFill>
              </a:rPr>
              <a:t>Day 1 – Challenges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endParaRPr dirty="0"/>
          </a:p>
          <a:p>
            <a:pPr marL="0" indent="0">
              <a:buNone/>
              <a:defRPr sz="2000"/>
            </a:pPr>
            <a:r>
              <a:rPr dirty="0"/>
              <a:t>Challenges:</a:t>
            </a:r>
            <a:endParaRPr lang="en-IN" dirty="0"/>
          </a:p>
          <a:p>
            <a:pPr marL="0" indent="0">
              <a:buNone/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• Trigger mismatch</a:t>
            </a:r>
          </a:p>
          <a:p>
            <a:pPr marL="0" indent="0">
              <a:buNone/>
              <a:defRPr sz="2000"/>
            </a:pPr>
            <a:r>
              <a:rPr dirty="0"/>
              <a:t>• Incorrect webhook format</a:t>
            </a:r>
            <a:endParaRPr lang="en-IN" dirty="0"/>
          </a:p>
          <a:p>
            <a:pPr marL="0" indent="0">
              <a:buNone/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Improvements:</a:t>
            </a:r>
          </a:p>
          <a:p>
            <a:pPr marL="0" indent="0">
              <a:buNone/>
              <a:defRPr sz="2000"/>
            </a:pPr>
            <a:r>
              <a:rPr dirty="0"/>
              <a:t>• Corrected headers &amp; schema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F0000"/>
                </a:solidFill>
              </a:rPr>
              <a:t>Day 2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Goal: Automate queue-based processing.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F2111E-177A-3B2F-3D85-AD7E27088F6D}"/>
              </a:ext>
            </a:extLst>
          </p:cNvPr>
          <p:cNvSpPr txBox="1"/>
          <p:nvPr/>
        </p:nvSpPr>
        <p:spPr>
          <a:xfrm>
            <a:off x="457200" y="3863181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IN" dirty="0"/>
              <a:t>• Azure Storage Queue</a:t>
            </a:r>
          </a:p>
          <a:p>
            <a:pPr>
              <a:defRPr sz="2000"/>
            </a:pPr>
            <a:r>
              <a:rPr lang="en-IN" dirty="0"/>
              <a:t>• Queue Trigger Function</a:t>
            </a:r>
          </a:p>
          <a:p>
            <a:pPr>
              <a:defRPr sz="2000"/>
            </a:pPr>
            <a:r>
              <a:rPr lang="en-IN" dirty="0"/>
              <a:t>• Blob Service Client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F1D41-228A-A36E-9D26-1CC3091A880F}"/>
              </a:ext>
            </a:extLst>
          </p:cNvPr>
          <p:cNvSpPr txBox="1"/>
          <p:nvPr/>
        </p:nvSpPr>
        <p:spPr>
          <a:xfrm>
            <a:off x="457200" y="313334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Services Used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F0000"/>
                </a:solidFill>
              </a:rPr>
              <a:t>Day 2 –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Implementation Steps:</a:t>
            </a:r>
          </a:p>
          <a:p>
            <a:pPr>
              <a:defRPr sz="2000"/>
            </a:pPr>
            <a:r>
              <a:rPr dirty="0"/>
              <a:t>1. Created queue</a:t>
            </a:r>
          </a:p>
          <a:p>
            <a:pPr>
              <a:defRPr sz="2000"/>
            </a:pPr>
            <a:r>
              <a:rPr dirty="0"/>
              <a:t>2. Implemented queue-trigger function</a:t>
            </a:r>
          </a:p>
          <a:p>
            <a:pPr>
              <a:defRPr sz="2000"/>
            </a:pPr>
            <a:r>
              <a:rPr dirty="0"/>
              <a:t>3. </a:t>
            </a:r>
            <a:r>
              <a:rPr lang="en-IN" dirty="0"/>
              <a:t>Created a Cosmo DB and I did data transformation finally loaded in Cosmo DB.</a:t>
            </a:r>
          </a:p>
          <a:p>
            <a:pPr marL="0" indent="0">
              <a:buNone/>
              <a:defRPr sz="2000"/>
            </a:pPr>
            <a:endParaRPr dirty="0"/>
          </a:p>
          <a:p>
            <a:pPr marL="0" indent="0">
              <a:buNone/>
              <a:defRPr sz="2000"/>
            </a:pPr>
            <a:endParaRPr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C4C919F7-3369-D61E-5AC2-78F359D9171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3429000"/>
            <a:ext cx="5943600" cy="3209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u="sng" dirty="0">
                <a:solidFill>
                  <a:srgbClr val="FF0000"/>
                </a:solidFill>
              </a:rPr>
              <a:t>Day 2 – Challenges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Challenges:</a:t>
            </a:r>
          </a:p>
          <a:p>
            <a:pPr marL="0" indent="0">
              <a:buNone/>
              <a:defRPr sz="2000"/>
            </a:pPr>
            <a:r>
              <a:rPr dirty="0"/>
              <a:t>• Queue message format issues</a:t>
            </a:r>
            <a:endParaRPr lang="en-IN" dirty="0"/>
          </a:p>
          <a:p>
            <a:pPr marL="0" indent="0">
              <a:buNone/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Improvements:</a:t>
            </a:r>
            <a:endParaRPr lang="en-IN" dirty="0"/>
          </a:p>
          <a:p>
            <a:pPr marL="0" indent="0">
              <a:buNone/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• Standardized message body &amp; logging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F0000"/>
                </a:solidFill>
              </a:rPr>
              <a:t>Day 3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Goal: Store cleaned data in Azure SQL / Cosmos DB.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A631E-17BF-E115-6235-EE668FD9CF3E}"/>
              </a:ext>
            </a:extLst>
          </p:cNvPr>
          <p:cNvSpPr txBox="1"/>
          <p:nvPr/>
        </p:nvSpPr>
        <p:spPr>
          <a:xfrm>
            <a:off x="457200" y="3780472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IN" dirty="0"/>
              <a:t>• Azure SQL DB</a:t>
            </a:r>
          </a:p>
          <a:p>
            <a:pPr>
              <a:defRPr sz="2000"/>
            </a:pPr>
            <a:r>
              <a:rPr lang="en-IN" dirty="0"/>
              <a:t>• Cosmos DB</a:t>
            </a:r>
          </a:p>
          <a:p>
            <a:pPr>
              <a:defRPr sz="2000"/>
            </a:pPr>
            <a:r>
              <a:rPr lang="en-IN" dirty="0"/>
              <a:t>• MERGE Operations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FBA61B-5149-8523-8331-4B754B668072}"/>
              </a:ext>
            </a:extLst>
          </p:cNvPr>
          <p:cNvSpPr txBox="1"/>
          <p:nvPr/>
        </p:nvSpPr>
        <p:spPr>
          <a:xfrm>
            <a:off x="457200" y="296733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Services Used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F0000"/>
                </a:solidFill>
              </a:rPr>
              <a:t>Day 3 –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Created Fact and Dimension tables (</a:t>
            </a:r>
            <a:r>
              <a:rPr lang="en-IN" sz="2000" dirty="0" err="1"/>
              <a:t>DimCustomer</a:t>
            </a:r>
            <a:r>
              <a:rPr lang="en-IN" sz="2000" dirty="0"/>
              <a:t>, </a:t>
            </a:r>
            <a:r>
              <a:rPr lang="en-IN" sz="2000" dirty="0" err="1"/>
              <a:t>DimAccount</a:t>
            </a:r>
            <a:r>
              <a:rPr lang="en-IN" sz="2000" dirty="0"/>
              <a:t>, </a:t>
            </a:r>
            <a:r>
              <a:rPr lang="en-IN" sz="2000" dirty="0" err="1"/>
              <a:t>FactTransactions</a:t>
            </a:r>
            <a:r>
              <a:rPr lang="en-IN" sz="20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Used </a:t>
            </a:r>
            <a:r>
              <a:rPr lang="en-IN" sz="2000" dirty="0" err="1"/>
              <a:t>PySpark</a:t>
            </a:r>
            <a:r>
              <a:rPr lang="en-IN" sz="2000" dirty="0"/>
              <a:t> to transform Silver layer data and load into SQL DW.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Handled MERGE/UPSERT operations to maintain history (SCD Type 2 for </a:t>
            </a:r>
            <a:r>
              <a:rPr lang="en-IN" sz="2000" dirty="0" err="1"/>
              <a:t>DimCustomer</a:t>
            </a:r>
            <a:r>
              <a:rPr lang="en-IN" sz="2000" dirty="0"/>
              <a:t>).</a:t>
            </a:r>
          </a:p>
          <a:p>
            <a:pPr marL="0" indent="0">
              <a:buNone/>
            </a:pPr>
            <a:endParaRPr sz="20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ECE60D4-9B0D-2A04-9D25-E2829FFB07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188" y="3648075"/>
            <a:ext cx="6386511" cy="30527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F0000"/>
                </a:solidFill>
              </a:rPr>
              <a:t>Day 4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Goal: Implement fraud detection with Event Grid notifications.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38ACF-CE37-3281-1FBF-CB8BE5DDB3C6}"/>
              </a:ext>
            </a:extLst>
          </p:cNvPr>
          <p:cNvSpPr txBox="1"/>
          <p:nvPr/>
        </p:nvSpPr>
        <p:spPr>
          <a:xfrm>
            <a:off x="457200" y="3595806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Event 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Azure Function (Event Grid trigger)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Service Bus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Cosmos DB.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8F4D9-C940-E2BE-4D9C-57898D2BC7BB}"/>
              </a:ext>
            </a:extLst>
          </p:cNvPr>
          <p:cNvSpPr txBox="1"/>
          <p:nvPr/>
        </p:nvSpPr>
        <p:spPr>
          <a:xfrm>
            <a:off x="457200" y="296733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Services Used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6916-9AAB-B4EB-C0D9-338A8055F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rgbClr val="FF0000"/>
                </a:solidFill>
              </a:rPr>
              <a:t>Day 4 – Implementation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CBFC8E-86DE-40BD-1FF1-AF178FB9C6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02772"/>
            <a:ext cx="739253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Event Grid triggers function on high-value transactions (&gt;₹50,000).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Function checks for anomalies: unusual location/device, rapid transactions,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/>
              <a:t>odd login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Inserts alert into </a:t>
            </a:r>
            <a:r>
              <a:rPr lang="en-US" altLang="en-US" sz="1800" dirty="0" err="1"/>
              <a:t>FraudAlert</a:t>
            </a:r>
            <a:r>
              <a:rPr lang="en-US" altLang="en-US" sz="1800" dirty="0"/>
              <a:t> Container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Sends notifications via Service Bus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EA3A7C9E-9E2E-F1C9-C4CD-71D6FC7E293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3160584"/>
            <a:ext cx="59436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411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F0000"/>
                </a:solidFill>
              </a:rPr>
              <a:t>Day 5 – Silver Layer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A0BB0E0-8791-A2CF-3417-8245E7ABF0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5787" y="1752615"/>
            <a:ext cx="682013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Goal: Transform and consolidate clean data for analytics and reporting.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Services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Azure Databricks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+mj-lt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Azure 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Silver layer in ADLS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Power BI.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2E314-60A2-F70F-9B91-5D97E09D0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rgbClr val="FF0000"/>
                </a:solidFill>
              </a:rPr>
              <a:t>Day 5 – Implementation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AC75A5-3F46-156E-33DB-1AB5997953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87860"/>
            <a:ext cx="722364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Combined ATM, UPI, Account data, removed duplicates, enriched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Verified data integrity, standardized timestamps, and amounts.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Built dashboards for Customer 360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5D106-4B3A-0EB7-84C9-5AE801B4E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80533"/>
            <a:ext cx="7986713" cy="287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24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F349F-B31E-B768-BCA1-EE808C52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717800"/>
            <a:ext cx="8229600" cy="1143000"/>
          </a:xfrm>
        </p:spPr>
        <p:txBody>
          <a:bodyPr>
            <a:normAutofit/>
          </a:bodyPr>
          <a:lstStyle/>
          <a:p>
            <a:r>
              <a:rPr lang="en-IN" sz="6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6264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480</Words>
  <Application>Microsoft Office PowerPoint</Application>
  <PresentationFormat>On-screen Show (4:3)</PresentationFormat>
  <Paragraphs>121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Mazenet Technologies</vt:lpstr>
      <vt:lpstr> INDEX - DAY 1 TO DAY 5</vt:lpstr>
      <vt:lpstr>Project Overview</vt:lpstr>
      <vt:lpstr>Day 1 – Objective</vt:lpstr>
      <vt:lpstr>Day 1 – Implementation</vt:lpstr>
      <vt:lpstr>Day 1 – Challenges &amp; Improvements</vt:lpstr>
      <vt:lpstr>Day 2 – Objective</vt:lpstr>
      <vt:lpstr>Day 2 – Implementation</vt:lpstr>
      <vt:lpstr>Day 2 – Challenges &amp; Improvements</vt:lpstr>
      <vt:lpstr>Day 3 – Objective</vt:lpstr>
      <vt:lpstr>Day 3 – Implementation</vt:lpstr>
      <vt:lpstr>Day 4 – Objective</vt:lpstr>
      <vt:lpstr>Day 4 – Implementation</vt:lpstr>
      <vt:lpstr>Day 5 – Silver Layer Overview</vt:lpstr>
      <vt:lpstr>Day 5 – Implementation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Mazenet Technologies</dc:title>
  <dc:subject/>
  <dc:creator>Shameena Shameena</dc:creator>
  <cp:keywords/>
  <dc:description>generated using python-pptx</dc:description>
  <cp:lastModifiedBy>Shameena Shameena</cp:lastModifiedBy>
  <cp:revision>3</cp:revision>
  <dcterms:created xsi:type="dcterms:W3CDTF">2013-01-27T09:14:16Z</dcterms:created>
  <dcterms:modified xsi:type="dcterms:W3CDTF">2025-12-10T07:35:13Z</dcterms:modified>
  <cp:category/>
</cp:coreProperties>
</file>